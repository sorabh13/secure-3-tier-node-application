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0">
                <a:solidFill>
                  <a:srgbClr val="2953C4"/>
                </a:solidFill>
                <a:latin typeface="Consolas"/>
              </a:rPr>
              <a:t>INFRASTRUCTURE / TERRAFORM / US-EAST-1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B2233"/>
                </a:solidFill>
                <a:latin typeface="Calibri"/>
              </a:rPr>
              <a:t>Secure 3-Tier AWS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50">
                <a:solidFill>
                  <a:srgbClr val="5B6474"/>
                </a:solidFill>
                <a:latin typeface="Calibri"/>
              </a:rPr>
              <a:t>toptal / prod — CloudFront + WAF → ALB → ECS Fargate (web, api) → RDS Multi-AZ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98448"/>
            <a:ext cx="11274552" cy="0"/>
          </a:xfrm>
          <a:prstGeom prst="line">
            <a:avLst/>
          </a:prstGeom>
          <a:ln w="1270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User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browser · 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CloudFront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CDN + TLS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WAFv2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managed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95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ALB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public · 2 AZs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95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ECS: web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blue/green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95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ECS: api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internal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69164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95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1B2233"/>
                </a:solidFill>
                <a:latin typeface="Calibri"/>
              </a:rPr>
              <a:t>RDS Multi-AZ</a:t>
            </a:r>
          </a:p>
          <a:p>
            <a:pPr algn="ctr"/>
            <a:r>
              <a:rPr sz="900">
                <a:solidFill>
                  <a:srgbClr val="5B6474"/>
                </a:solidFill>
                <a:latin typeface="Consolas"/>
              </a:rPr>
              <a:t>PostgreSQL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175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891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3920" y="2080260"/>
            <a:ext cx="137160" cy="0"/>
          </a:xfrm>
          <a:prstGeom prst="bentConnector3">
            <a:avLst/>
          </a:prstGeom>
          <a:ln w="25400">
            <a:solidFill>
              <a:srgbClr val="2953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1435608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2953C4"/>
                </a:solidFill>
                <a:latin typeface="Consolas"/>
              </a:rPr>
              <a:t>REQUEST PATH  —  SOLID BLUE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288036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15875">
            <a:solidFill>
              <a:srgbClr val="CF9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1B2233"/>
                </a:solidFill>
                <a:latin typeface="Calibri"/>
              </a:rPr>
              <a:t>Edge (global) — outside VPC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880360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E9F0FE"/>
          </a:solidFill>
          <a:ln w="15875">
            <a:solidFill>
              <a:srgbClr val="6D9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1B2233"/>
                </a:solidFill>
                <a:latin typeface="Calibri"/>
              </a:rPr>
              <a:t>Public subnet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88036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0ECFB"/>
          </a:solidFill>
          <a:ln w="15875">
            <a:solidFill>
              <a:srgbClr val="9C8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1B2233"/>
                </a:solidFill>
                <a:latin typeface="Calibri"/>
              </a:rPr>
              <a:t>Private app subnet · 2 AZs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880360"/>
            <a:ext cx="1508760" cy="457200"/>
          </a:xfrm>
          <a:prstGeom prst="roundRect">
            <a:avLst>
              <a:gd name="adj" fmla="val 8000"/>
            </a:avLst>
          </a:prstGeom>
          <a:solidFill>
            <a:srgbClr val="E6F6F0"/>
          </a:solidFill>
          <a:ln w="15875">
            <a:solidFill>
              <a:srgbClr val="55A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1B2233"/>
                </a:solidFill>
                <a:latin typeface="Calibri"/>
              </a:rPr>
              <a:t>Private DB subnet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361188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1B2233"/>
                </a:solidFill>
                <a:latin typeface="Calibri"/>
              </a:rPr>
              <a:t>NAT Gateway × 2 (one per AZ)</a:t>
            </a:r>
          </a:p>
          <a:p>
            <a:pPr algn="ctr"/>
            <a:r>
              <a:rPr sz="850">
                <a:solidFill>
                  <a:srgbClr val="5B6474"/>
                </a:solidFill>
                <a:latin typeface="Consolas"/>
              </a:rPr>
              <a:t>no shared NAT single point of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361188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1B2233"/>
                </a:solidFill>
                <a:latin typeface="Calibri"/>
              </a:rPr>
              <a:t>Synchronous standby (AZ b)</a:t>
            </a:r>
          </a:p>
          <a:p>
            <a:pPr algn="ctr"/>
            <a:r>
              <a:rPr sz="850">
                <a:solidFill>
                  <a:srgbClr val="5B6474"/>
                </a:solidFill>
                <a:latin typeface="Consolas"/>
              </a:rPr>
              <a:t>RPO ~0 · RTO ~60–120s failover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434840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5B6474"/>
                </a:solidFill>
                <a:latin typeface="Consolas"/>
              </a:rPr>
              <a:t>SUPPORTING SERVICES — ACCOUNT-LEVEL, OUTSIDE VPC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ECR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web + api images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06524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Secrets Manager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DB credentials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KMS CMKs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data + CloudTrail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6612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CloudWatch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logs, alarms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91656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SNS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alerts topic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6700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CloudTrail → S3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audit 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744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AWS Backup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daily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76788" y="4736592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1B2233"/>
                </a:solidFill>
                <a:latin typeface="Calibri"/>
              </a:rPr>
              <a:t>CodeDeploy</a:t>
            </a:r>
          </a:p>
          <a:p>
            <a:pPr algn="ctr"/>
            <a:r>
              <a:rPr sz="800">
                <a:solidFill>
                  <a:srgbClr val="5B6474"/>
                </a:solidFill>
                <a:latin typeface="Consolas"/>
              </a:rPr>
              <a:t>canary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623560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b="0">
                <a:solidFill>
                  <a:srgbClr val="5B6474"/>
                </a:solidFill>
                <a:latin typeface="Consolas"/>
              </a:rPr>
              <a:t>TIERS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870448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38100" bIns="38100"/>
          <a:lstStyle/>
          <a:p>
            <a:pPr algn="l"/>
            <a:r>
              <a:rPr sz="1050" b="1">
                <a:solidFill>
                  <a:srgbClr val="2953C4"/>
                </a:solidFill>
                <a:latin typeface="Calibri"/>
              </a:rPr>
              <a:t>Web  ·  Fargate · 2+ AZs</a:t>
            </a:r>
          </a:p>
          <a:p>
            <a:pPr algn="l"/>
            <a:r>
              <a:rPr sz="900">
                <a:solidFill>
                  <a:srgbClr val="1B2233"/>
                </a:solidFill>
                <a:latin typeface="Calibri"/>
              </a:rPr>
              <a:t>Public via CF → WAF → ALB</a:t>
            </a:r>
          </a:p>
          <a:p>
            <a:pPr algn="l"/>
            <a:r>
              <a:rPr sz="850">
                <a:solidFill>
                  <a:srgbClr val="5B6474"/>
                </a:solidFill>
                <a:latin typeface="Consolas"/>
              </a:rPr>
              <a:t>Blue/green, 10% canary, 5-min bake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5870448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38100" bIns="38100"/>
          <a:lstStyle/>
          <a:p>
            <a:pPr algn="l"/>
            <a:r>
              <a:rPr sz="1050" b="1">
                <a:solidFill>
                  <a:srgbClr val="2953C4"/>
                </a:solidFill>
                <a:latin typeface="Calibri"/>
              </a:rPr>
              <a:t>API  ·  Fargate · 2+ AZs</a:t>
            </a:r>
          </a:p>
          <a:p>
            <a:pPr algn="l"/>
            <a:r>
              <a:rPr sz="900">
                <a:solidFill>
                  <a:srgbClr val="1B2233"/>
                </a:solidFill>
                <a:latin typeface="Calibri"/>
              </a:rPr>
              <a:t>Private · Cloud Map only</a:t>
            </a:r>
          </a:p>
          <a:p>
            <a:pPr algn="l"/>
            <a:r>
              <a:rPr sz="850">
                <a:solidFill>
                  <a:srgbClr val="5B6474"/>
                </a:solidFill>
                <a:latin typeface="Consolas"/>
              </a:rPr>
              <a:t>ECS rolling, 100% min healthy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0999" y="5870448"/>
            <a:ext cx="3703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38100" bIns="38100"/>
          <a:lstStyle/>
          <a:p>
            <a:pPr algn="l"/>
            <a:r>
              <a:rPr sz="1050" b="1">
                <a:solidFill>
                  <a:srgbClr val="2953C4"/>
                </a:solidFill>
                <a:latin typeface="Calibri"/>
              </a:rPr>
              <a:t>DB  ·  RDS Multi-AZ</a:t>
            </a:r>
          </a:p>
          <a:p>
            <a:pPr algn="l"/>
            <a:r>
              <a:rPr sz="900">
                <a:solidFill>
                  <a:srgbClr val="1B2233"/>
                </a:solidFill>
                <a:latin typeface="Calibri"/>
              </a:rPr>
              <a:t>Private, SG = API tier only</a:t>
            </a:r>
          </a:p>
          <a:p>
            <a:pPr algn="l"/>
            <a:r>
              <a:rPr sz="850">
                <a:solidFill>
                  <a:srgbClr val="5B6474"/>
                </a:solidFill>
                <a:latin typeface="Consolas"/>
              </a:rPr>
              <a:t>Auto backups + AWS Backup daily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0">
                <a:solidFill>
                  <a:srgbClr val="2953C4"/>
                </a:solidFill>
                <a:latin typeface="Consolas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B2233"/>
                </a:solidFill>
                <a:latin typeface="Calibri"/>
              </a:rPr>
              <a:t>Availability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50">
                <a:solidFill>
                  <a:srgbClr val="5B6474"/>
                </a:solidFill>
                <a:latin typeface="Calibri"/>
              </a:rPr>
              <a:t>How the design survives an AZ failure and ships changes with zero downtime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98448"/>
            <a:ext cx="11274552" cy="0"/>
          </a:xfrm>
          <a:prstGeom prst="line">
            <a:avLst/>
          </a:prstGeom>
          <a:ln w="1270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6720840" cy="49377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l"/>
            <a:r>
              <a:rPr sz="1300" b="1">
                <a:solidFill>
                  <a:srgbClr val="2953C4"/>
                </a:solidFill>
                <a:latin typeface="Calibri"/>
              </a:rPr>
              <a:t>What I built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Multi-AZ RDS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Synchronous standby in a second AZ; RDS fails the DNS endpoint over automatically. RPO ~0, RTO ~60–120s.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Per-AZ NAT Gateways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One NAT GW per AZ instead of one shared — a shared NAT is the classic hidden single point of failure: compute looks multi-AZ, but egress isn't.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Web: CodeDeploy blue/green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ECSCanary10Percent5Minutes — 10% of traffic shifts, CodeDeploy watches ALB 5xx + unhealthy-host alarms for 5 minutes, then cuts over. Auto-rollback if alarms trip.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API: ECS rolling deploy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No ALB target groups to shift between (internal-only via Cloud Map), so it uses 100% minimum-healthy rolling updates — still zero-downtime, no canary bake.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279392" cy="4937760"/>
          </a:xfrm>
          <a:prstGeom prst="roundRect">
            <a:avLst>
              <a:gd name="adj" fmla="val 8000"/>
            </a:avLst>
          </a:prstGeom>
          <a:solidFill>
            <a:srgbClr val="E9F0FE"/>
          </a:solidFill>
          <a:ln w="12700">
            <a:solidFill>
              <a:srgbClr val="6D9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l"/>
            <a:r>
              <a:rPr sz="1300" b="1">
                <a:solidFill>
                  <a:srgbClr val="2953C4"/>
                </a:solidFill>
                <a:latin typeface="Calibri"/>
              </a:rPr>
              <a:t>Likely interview questions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Why Multi-AZ instead of a read replica?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Multi-AZ is for availability (sync, automatic failover, no capacity gain). A replica is for read scaling (async, manual promotion). This workload needed HA, not read scaling.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Why not Aurora?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Aurora's sub-30s failover wins at higher scale; for a db.t4g.micro workload, standard Multi-AZ is the right cost/complexity tradeoff — and a straightforward upgrade path later.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What triggers the CodeDeploy rollback exactly?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DEPLOYMENT_FAILURE (tasks never go healthy) or the alarm_configuration block tripping DEPLOYMENT_STOP_ON_ALARM during the bake window.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Why keep the old target group around?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It's the rollback target — CodeDeploy needs both blue and green target groups live to shift traffic back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0">
                <a:solidFill>
                  <a:srgbClr val="2953C4"/>
                </a:solidFill>
                <a:latin typeface="Consolas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1B2233"/>
                </a:solidFill>
                <a:latin typeface="Calibri"/>
              </a:rPr>
              <a:t>Security, Secrets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50">
                <a:solidFill>
                  <a:srgbClr val="5B6474"/>
                </a:solidFill>
                <a:latin typeface="Calibri"/>
              </a:rPr>
              <a:t>Defense in depth from the edge to the database, and how deploys authenticate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98448"/>
            <a:ext cx="11274552" cy="0"/>
          </a:xfrm>
          <a:prstGeom prst="line">
            <a:avLst/>
          </a:prstGeom>
          <a:ln w="1270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00200"/>
            <a:ext cx="6720840" cy="49377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2700">
            <a:solidFill>
              <a:srgbClr val="CC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l"/>
            <a:r>
              <a:rPr sz="1300" b="1">
                <a:solidFill>
                  <a:srgbClr val="2953C4"/>
                </a:solidFill>
                <a:latin typeface="Calibri"/>
              </a:rPr>
              <a:t>What I built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Edge + network isolation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WAFv2 (managed rules + rate limit) sits on CloudFront — blocks bad traffic before it reaches the VPC. API tier has no ALB route at all; RDS sits in subnets with no internet route, SG scoped to the API tier only.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Secrets, never plaintext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DB password generated by random_password at apply time, stored only in Secrets Manager, injected into ECS via the secrets ARN (not environment). Nothing in git, CI logs, or .tfvars.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Encryption + audit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KMS CMKs encrypt RDS and CloudTrail. CloudTrail is a multi-region trail with log-file validation, writing to a KMS-encrypted, versioned S3 bucket.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Two independent backup paths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RDS automated backups (PITR) plus an AWS Backup daily plan with its own vault and retention — centrally managed, independent of the instance.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B2233"/>
                </a:solidFill>
                <a:latin typeface="Calibri"/>
              </a:rPr>
              <a:t>GitHub OIDC: built, blocked at platform level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B6474"/>
                </a:solidFill>
                <a:latin typeface="Calibri"/>
              </a:rPr>
              <a:t>IAM roles + OIDC provider are fully provisioned in Terraform. In practice GitHub never granted id-token to the job across 5+ real CI runs — a platform-level restriction, not fixable from workflow YAML or IAM. CI currently runs on short-lived STS credentials as Actions secrets instead; swapping back is a one-line change per workflow once unblocked.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00200"/>
            <a:ext cx="4279392" cy="4937760"/>
          </a:xfrm>
          <a:prstGeom prst="roundRect">
            <a:avLst>
              <a:gd name="adj" fmla="val 8000"/>
            </a:avLst>
          </a:prstGeom>
          <a:solidFill>
            <a:srgbClr val="E9F0FE"/>
          </a:solidFill>
          <a:ln w="12700">
            <a:solidFill>
              <a:srgbClr val="6D94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/>
          <a:lstStyle/>
          <a:p>
            <a:pPr algn="l"/>
            <a:r>
              <a:rPr sz="1300" b="1">
                <a:solidFill>
                  <a:srgbClr val="2953C4"/>
                </a:solidFill>
                <a:latin typeface="Calibri"/>
              </a:rPr>
              <a:t>Likely interview questions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Why WAF on CloudFront and not the ALB?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CloudFront is the actual internet-facing edge — putting WAF there blocks malicious requests before they reach the VPC, ALB, or compute at all.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What if the DB password leaks?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One-command rotation: terraform taint random_password.db &amp;&amp; terraform apply. Terraform regenerates it, updates RDS in place, writes a new Secrets Manager version.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So is CI using OIDC or static keys right now?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Static — short-lived STS credentials as Actions secrets. OIDC is fully built (IAM provider + two least-privilege roles) but blocked by a GitHub-side restriction I confirmed across 5+ runs. I'd rather say that plainly than have the docs claim something the workflow file doesn't back up.</a:t>
            </a:r>
          </a:p>
          <a:p>
            <a:pPr>
              <a:spcBef>
                <a:spcPts val="1100"/>
              </a:spcBef>
            </a:pPr>
            <a:r>
              <a:rPr sz="1100" b="1" i="1">
                <a:solidFill>
                  <a:srgbClr val="1B2233"/>
                </a:solidFill>
                <a:latin typeface="Calibri"/>
              </a:rPr>
              <a:t>Q: Isn't broad IAM on the terraform role risky?</a:t>
            </a:r>
          </a:p>
          <a:p>
            <a:r>
              <a:rPr sz="1050">
                <a:solidFill>
                  <a:srgbClr val="5B6474"/>
                </a:solidFill>
                <a:latin typeface="Calibri"/>
              </a:rPr>
              <a:t>A: Yes — honest tradeoff. It's scoped to this account only and, once OIDC is active, gated behind OIDC + manual approval. Stronger version at larger scale: per-resource ARNs generated from plan output via policy-as-code.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